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D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4BDA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0520" y="32004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00584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Remuneraciones al Personal</a:t>
            </a:r>
            <a:endParaRPr lang="en-US" sz="3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la Ciudad de México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457200" y="2057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4BD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Final — Bases de Datos Relacionales  ·  COM-12101-001  ·  Primavera 2026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3200400" y="2560320"/>
            <a:ext cx="2743200" cy="411480"/>
          </a:xfrm>
          <a:prstGeom prst="roundRect">
            <a:avLst>
              <a:gd name="adj" fmla="val 17778"/>
            </a:avLst>
          </a:prstGeom>
          <a:solidFill>
            <a:srgbClr val="0D7377"/>
          </a:solidFill>
          <a:ln/>
        </p:spPr>
      </p:sp>
      <p:sp>
        <p:nvSpPr>
          <p:cNvPr id="7" name="Text 4"/>
          <p:cNvSpPr/>
          <p:nvPr/>
        </p:nvSpPr>
        <p:spPr>
          <a:xfrm>
            <a:off x="3200400" y="25603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1 — Selección del Dataset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274320" y="3291840"/>
            <a:ext cx="1965960" cy="123444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365760" y="3364992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David Fernando Avila Díaz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65760" y="388620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BD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197851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468880" y="3291840"/>
            <a:ext cx="1965960" cy="123444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2560320" y="3364992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Gerardo André Butrón Ramírez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663440" y="3291840"/>
            <a:ext cx="1965960" cy="123444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4754880" y="3364992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Emiliano Sebastián Millán Giffard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858000" y="3291840"/>
            <a:ext cx="1965960" cy="123444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949440" y="3364992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José Roberto Uribe Clemente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949440" y="388620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BD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214129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9" name="Text 16"/>
          <p:cNvSpPr/>
          <p:nvPr/>
        </p:nvSpPr>
        <p:spPr>
          <a:xfrm>
            <a:off x="457200" y="4846320"/>
            <a:ext cx="82296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ITAM  ·  Equipo 1  ·  Febrero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1D2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5448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914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Dataset: Origen, Métricas y Obtención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365760" y="960120"/>
            <a:ext cx="4114800" cy="2057400"/>
          </a:xfrm>
          <a:prstGeom prst="rect">
            <a:avLst/>
          </a:prstGeom>
          <a:solidFill>
            <a:srgbClr val="F0F7F4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365760" y="960120"/>
            <a:ext cx="64008" cy="20574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102412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Origen y Fuente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0080" y="1353312"/>
            <a:ext cx="3566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</a:t>
            </a:r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Gobierno de la CDMX — Datos Abiertos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Certificación: </a:t>
            </a:r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Data Foundation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Licencia: </a:t>
            </a:r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Data CDMX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Formato: </a:t>
            </a:r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con certificado SHA-256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709160" y="960120"/>
            <a:ext cx="192024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09160" y="960120"/>
            <a:ext cx="1920240" cy="45720"/>
          </a:xfrm>
          <a:prstGeom prst="rect">
            <a:avLst/>
          </a:prstGeom>
          <a:solidFill>
            <a:srgbClr val="14BDAC"/>
          </a:solidFill>
          <a:ln/>
        </p:spPr>
      </p:sp>
      <p:sp>
        <p:nvSpPr>
          <p:cNvPr id="11" name="Text 8"/>
          <p:cNvSpPr/>
          <p:nvPr/>
        </p:nvSpPr>
        <p:spPr>
          <a:xfrm>
            <a:off x="4709160" y="10972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246,821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4709160" y="15087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812280" y="960120"/>
            <a:ext cx="192024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812280" y="960120"/>
            <a:ext cx="1920240" cy="45720"/>
          </a:xfrm>
          <a:prstGeom prst="rect">
            <a:avLst/>
          </a:prstGeom>
          <a:solidFill>
            <a:srgbClr val="14BDAC"/>
          </a:solidFill>
          <a:ln/>
        </p:spPr>
      </p:sp>
      <p:sp>
        <p:nvSpPr>
          <p:cNvPr id="15" name="Text 12"/>
          <p:cNvSpPr/>
          <p:nvPr/>
        </p:nvSpPr>
        <p:spPr>
          <a:xfrm>
            <a:off x="6812280" y="10972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6812280" y="15087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Atributos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709160" y="2011680"/>
            <a:ext cx="192024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709160" y="2011680"/>
            <a:ext cx="1920240" cy="45720"/>
          </a:xfrm>
          <a:prstGeom prst="rect">
            <a:avLst/>
          </a:prstGeom>
          <a:solidFill>
            <a:srgbClr val="14BDAC"/>
          </a:solidFill>
          <a:ln/>
        </p:spPr>
      </p:sp>
      <p:sp>
        <p:nvSpPr>
          <p:cNvPr id="19" name="Text 16"/>
          <p:cNvSpPr/>
          <p:nvPr/>
        </p:nvSpPr>
        <p:spPr>
          <a:xfrm>
            <a:off x="4709160" y="21488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73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4709160" y="25603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Sectores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6812280" y="2011680"/>
            <a:ext cx="192024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812280" y="2011680"/>
            <a:ext cx="1920240" cy="45720"/>
          </a:xfrm>
          <a:prstGeom prst="rect">
            <a:avLst/>
          </a:prstGeom>
          <a:solidFill>
            <a:srgbClr val="14BDAC"/>
          </a:solidFill>
          <a:ln/>
        </p:spPr>
      </p:sp>
      <p:sp>
        <p:nvSpPr>
          <p:cNvPr id="23" name="Text 20"/>
          <p:cNvSpPr/>
          <p:nvPr/>
        </p:nvSpPr>
        <p:spPr>
          <a:xfrm>
            <a:off x="6812280" y="21488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1,772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6812280" y="25603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Puestos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365760" y="3200400"/>
            <a:ext cx="8412480" cy="1554480"/>
          </a:xfrm>
          <a:prstGeom prst="rect">
            <a:avLst/>
          </a:prstGeom>
          <a:solidFill>
            <a:srgbClr val="FFF8E1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365760" y="3200400"/>
            <a:ext cx="64008" cy="1554480"/>
          </a:xfrm>
          <a:prstGeom prst="rect">
            <a:avLst/>
          </a:prstGeom>
          <a:solidFill>
            <a:srgbClr val="D4A843"/>
          </a:solidFill>
          <a:ln/>
        </p:spPr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291840"/>
            <a:ext cx="256032" cy="256032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960120" y="32735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 de Obtención</a:t>
            </a:r>
            <a:endParaRPr lang="en-US" sz="1200" dirty="0"/>
          </a:p>
        </p:txBody>
      </p:sp>
      <p:sp>
        <p:nvSpPr>
          <p:cNvPr id="29" name="Text 25"/>
          <p:cNvSpPr/>
          <p:nvPr/>
        </p:nvSpPr>
        <p:spPr>
          <a:xfrm>
            <a:off x="640080" y="36118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portal datos.cdmx.gob.mx eliminó columnas clave (sexo, edad, fecha_ingreso, tipo_personal, sueldo_neto, sector). Mediante web scraping localizamos la versión completa con 17 columnas certificada por World Data Foundation.</a:t>
            </a:r>
            <a:endParaRPr lang="en-US" sz="1100" dirty="0"/>
          </a:p>
        </p:txBody>
      </p:sp>
      <p:sp>
        <p:nvSpPr>
          <p:cNvPr id="30" name="Shape 26"/>
          <p:cNvSpPr/>
          <p:nvPr/>
        </p:nvSpPr>
        <p:spPr>
          <a:xfrm>
            <a:off x="640080" y="4206240"/>
            <a:ext cx="2468880" cy="365760"/>
          </a:xfrm>
          <a:prstGeom prst="roundRect">
            <a:avLst>
              <a:gd name="adj" fmla="val 15000"/>
            </a:avLst>
          </a:prstGeom>
          <a:solidFill>
            <a:srgbClr val="F0F7F4"/>
          </a:solidFill>
          <a:ln/>
        </p:spPr>
      </p:sp>
      <p:sp>
        <p:nvSpPr>
          <p:cNvPr id="31" name="Text 27"/>
          <p:cNvSpPr/>
          <p:nvPr/>
        </p:nvSpPr>
        <p:spPr>
          <a:xfrm>
            <a:off x="640080" y="42062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Dataset Original (11 col.)</a:t>
            </a:r>
            <a:endParaRPr lang="en-US" sz="1050" dirty="0"/>
          </a:p>
        </p:txBody>
      </p:sp>
      <p:pic>
        <p:nvPicPr>
          <p:cNvPr id="3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7248" y="4270248"/>
            <a:ext cx="182880" cy="182880"/>
          </a:xfrm>
          <a:prstGeom prst="rect">
            <a:avLst/>
          </a:prstGeom>
        </p:spPr>
      </p:pic>
      <p:sp>
        <p:nvSpPr>
          <p:cNvPr id="33" name="Shape 28"/>
          <p:cNvSpPr/>
          <p:nvPr/>
        </p:nvSpPr>
        <p:spPr>
          <a:xfrm>
            <a:off x="3383280" y="4206240"/>
            <a:ext cx="2468880" cy="365760"/>
          </a:xfrm>
          <a:prstGeom prst="roundRect">
            <a:avLst>
              <a:gd name="adj" fmla="val 15000"/>
            </a:avLst>
          </a:prstGeom>
          <a:solidFill>
            <a:srgbClr val="F0F7F4"/>
          </a:solidFill>
          <a:ln/>
        </p:spPr>
      </p:sp>
      <p:sp>
        <p:nvSpPr>
          <p:cNvPr id="34" name="Text 29"/>
          <p:cNvSpPr/>
          <p:nvPr/>
        </p:nvSpPr>
        <p:spPr>
          <a:xfrm>
            <a:off x="3383280" y="42062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Web Scraping</a:t>
            </a:r>
            <a:endParaRPr lang="en-US" sz="1050" dirty="0"/>
          </a:p>
        </p:txBody>
      </p:sp>
      <p:pic>
        <p:nvPicPr>
          <p:cNvPr id="3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0448" y="4270248"/>
            <a:ext cx="182880" cy="182880"/>
          </a:xfrm>
          <a:prstGeom prst="rect">
            <a:avLst/>
          </a:prstGeom>
        </p:spPr>
      </p:pic>
      <p:sp>
        <p:nvSpPr>
          <p:cNvPr id="36" name="Shape 30"/>
          <p:cNvSpPr/>
          <p:nvPr/>
        </p:nvSpPr>
        <p:spPr>
          <a:xfrm>
            <a:off x="6126480" y="4206240"/>
            <a:ext cx="2468880" cy="365760"/>
          </a:xfrm>
          <a:prstGeom prst="roundRect">
            <a:avLst>
              <a:gd name="adj" fmla="val 15000"/>
            </a:avLst>
          </a:prstGeom>
          <a:solidFill>
            <a:srgbClr val="0D7377"/>
          </a:solidFill>
          <a:ln/>
        </p:spPr>
      </p:sp>
      <p:sp>
        <p:nvSpPr>
          <p:cNvPr id="37" name="Text 31"/>
          <p:cNvSpPr/>
          <p:nvPr/>
        </p:nvSpPr>
        <p:spPr>
          <a:xfrm>
            <a:off x="6126480" y="42062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Dataset WDF (17 col.)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1D2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5448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914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Diccionario de Datos — 17 Atributos</a:t>
            </a:r>
            <a:endParaRPr lang="en-US" sz="2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868680"/>
          <a:ext cx="8686800" cy="914400"/>
        </p:xfrm>
        <a:graphic>
          <a:graphicData uri="http://schemas.openxmlformats.org/drawingml/2006/table">
            <a:tbl>
              <a:tblPr/>
              <a:tblGrid>
                <a:gridCol w="320040"/>
                <a:gridCol w="1645920"/>
                <a:gridCol w="960120"/>
                <a:gridCol w="3017520"/>
                <a:gridCol w="274320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Atributo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Descripción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Ejemplo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A7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nombre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A7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Cualitativo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Nombre(s) del servidor público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MAYELA MARIANA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4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A7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apellido_1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A7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Cualitativo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Primer apellido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DORANTES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A7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apellido_2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A7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Cualitativo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Segundo apellido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GUILLEN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4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A7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sexo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A7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Cualitativo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Sexo del servidor público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FEMENINO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A7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edad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A7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Cuantitativo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Edad en años (rango: 16–60)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4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A7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n_puesto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A7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Cualitativo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Nombre del puesto (1,772 únicos)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JEFE DE OFICINA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A7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id_tipo_nomina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A7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Cuantitativo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 numérico del tipo de nómina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4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A7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tipo_contratacion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A7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Cualitativo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 de contrato (7 categorías)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A7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tipo_personal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A7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Cualitativo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Clasificación del personal (11 cat.)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SINDICALIZADOS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4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A7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fecha_ingreso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A7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Temporal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Fecha de ingreso al puesto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8/2/2006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A7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id_universo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A7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Cualitativo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Clave universo salarial (27 cat.)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4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A7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n_universo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A7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Cualitativo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Nombre del universo salarial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TECNICO OPERATIVO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A7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id_sector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A7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Cualitativo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Clave del sector gubernamental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02CD03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4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A7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n_cabeza_sector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A7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Cualitativo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Nombre del sector (73 únicos)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ALC. BENITO JUAREZ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A7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id_nivel_salarial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A7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Cuantitativo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Nivel salarial (721 niveles)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4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A7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sueldo_tabular_bruto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A7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Cuantitativo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Sueldo bruto mensual en MXN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$14,915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A7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sueldo_tabular_neto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A7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Cuantitativo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Sueldo neto mensual en MXN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$13,377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1D2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5448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914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Clasificación de Variables y Estadísticas Clave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320040" y="914400"/>
            <a:ext cx="1993392" cy="1234440"/>
          </a:xfrm>
          <a:prstGeom prst="rect">
            <a:avLst/>
          </a:prstGeom>
          <a:solidFill>
            <a:srgbClr val="F0F7F4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320040" y="914400"/>
            <a:ext cx="1993392" cy="4572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7" name="Text 4"/>
          <p:cNvSpPr/>
          <p:nvPr/>
        </p:nvSpPr>
        <p:spPr>
          <a:xfrm>
            <a:off x="429768" y="1024128"/>
            <a:ext cx="1773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Cuantitativas (5)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29768" y="1280160"/>
            <a:ext cx="17739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edad, id_tipo_nomina, id_nivel_salarial, sueldo_bruto, sueldo_neto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2496312" y="914400"/>
            <a:ext cx="1993392" cy="1234440"/>
          </a:xfrm>
          <a:prstGeom prst="rect">
            <a:avLst/>
          </a:prstGeom>
          <a:solidFill>
            <a:srgbClr val="F0F7F4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496312" y="914400"/>
            <a:ext cx="1993392" cy="45720"/>
          </a:xfrm>
          <a:prstGeom prst="rect">
            <a:avLst/>
          </a:prstGeom>
          <a:solidFill>
            <a:srgbClr val="14BDAC"/>
          </a:solidFill>
          <a:ln/>
        </p:spPr>
      </p:sp>
      <p:sp>
        <p:nvSpPr>
          <p:cNvPr id="11" name="Text 8"/>
          <p:cNvSpPr/>
          <p:nvPr/>
        </p:nvSpPr>
        <p:spPr>
          <a:xfrm>
            <a:off x="2606040" y="1024128"/>
            <a:ext cx="1773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Cualitativas (10)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2606040" y="1280160"/>
            <a:ext cx="17739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nombre, apellidos, sexo, n_puesto, tipo_contratación, tipo_personal, universo, sector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672584" y="914400"/>
            <a:ext cx="1993392" cy="1234440"/>
          </a:xfrm>
          <a:prstGeom prst="rect">
            <a:avLst/>
          </a:prstGeom>
          <a:solidFill>
            <a:srgbClr val="F0F7F4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672584" y="914400"/>
            <a:ext cx="1993392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5" name="Text 12"/>
          <p:cNvSpPr/>
          <p:nvPr/>
        </p:nvSpPr>
        <p:spPr>
          <a:xfrm>
            <a:off x="4782312" y="1024128"/>
            <a:ext cx="1773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(1)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782312" y="1280160"/>
            <a:ext cx="17739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fecha_ingreso (M/D/YYYY) → antigüedad laboral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6848856" y="914400"/>
            <a:ext cx="1993392" cy="1234440"/>
          </a:xfrm>
          <a:prstGeom prst="rect">
            <a:avLst/>
          </a:prstGeom>
          <a:solidFill>
            <a:srgbClr val="F0F7F4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848856" y="914400"/>
            <a:ext cx="1993392" cy="45720"/>
          </a:xfrm>
          <a:prstGeom prst="rect">
            <a:avLst/>
          </a:prstGeom>
          <a:solidFill>
            <a:srgbClr val="5A7A8A"/>
          </a:solidFill>
          <a:ln/>
        </p:spPr>
      </p:sp>
      <p:sp>
        <p:nvSpPr>
          <p:cNvPr id="19" name="Text 16"/>
          <p:cNvSpPr/>
          <p:nvPr/>
        </p:nvSpPr>
        <p:spPr>
          <a:xfrm>
            <a:off x="6958584" y="1024128"/>
            <a:ext cx="1773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 libre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958584" y="1280160"/>
            <a:ext cx="17739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n_puesto (1,772), n_cabeza_sector (73 nombres largos)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365760" y="2331720"/>
            <a:ext cx="2926080" cy="2377440"/>
          </a:xfrm>
          <a:prstGeom prst="rect">
            <a:avLst/>
          </a:prstGeom>
          <a:solidFill>
            <a:srgbClr val="F0F7F4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365760" y="2331720"/>
            <a:ext cx="64008" cy="237744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23" name="Text 20"/>
          <p:cNvSpPr/>
          <p:nvPr/>
        </p:nvSpPr>
        <p:spPr>
          <a:xfrm>
            <a:off x="640080" y="240487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Remuneraciones (MXN)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640080" y="269748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b="1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Mínimo: </a:t>
            </a:r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$461</a:t>
            </a:r>
            <a:endParaRPr lang="en-US" sz="11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50" b="1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Máximo: </a:t>
            </a:r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$111,178</a:t>
            </a:r>
            <a:endParaRPr lang="en-US" sz="11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50" b="1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Promedio: </a:t>
            </a:r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$13,225</a:t>
            </a:r>
            <a:endParaRPr lang="en-US" sz="11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50" b="1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Mediana: </a:t>
            </a:r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$10,410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640080" y="374904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Demografía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640080" y="40233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♂ 140,784 (57%)  ♀ 106,036 (43%)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Edad promedio: 42.5 años  (16–60)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3520440" y="2331720"/>
            <a:ext cx="5257800" cy="2377440"/>
          </a:xfrm>
          <a:prstGeom prst="rect">
            <a:avLst/>
          </a:prstGeom>
          <a:solidFill>
            <a:srgbClr val="F0F7F4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3520440" y="2331720"/>
            <a:ext cx="525780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9" name="Text 26"/>
          <p:cNvSpPr/>
          <p:nvPr/>
        </p:nvSpPr>
        <p:spPr>
          <a:xfrm>
            <a:off x="3749040" y="242316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Sectores por Número de Empleados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3657600" y="278892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Ciudadana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5760720" y="2816352"/>
            <a:ext cx="2926080" cy="146304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2" name="Text 29"/>
          <p:cNvSpPr/>
          <p:nvPr/>
        </p:nvSpPr>
        <p:spPr>
          <a:xfrm>
            <a:off x="8732520" y="2788920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49.8K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3657600" y="304495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Salud CDMX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5760720" y="3072384"/>
            <a:ext cx="1387102" cy="146304"/>
          </a:xfrm>
          <a:prstGeom prst="rect">
            <a:avLst/>
          </a:prstGeom>
          <a:solidFill>
            <a:srgbClr val="14BDAC"/>
          </a:solidFill>
          <a:ln/>
        </p:spPr>
      </p:sp>
      <p:sp>
        <p:nvSpPr>
          <p:cNvPr id="35" name="Text 32"/>
          <p:cNvSpPr/>
          <p:nvPr/>
        </p:nvSpPr>
        <p:spPr>
          <a:xfrm>
            <a:off x="7193542" y="3044952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23.6K</a:t>
            </a:r>
            <a:endParaRPr lang="en-US" sz="850" dirty="0"/>
          </a:p>
        </p:txBody>
      </p:sp>
      <p:sp>
        <p:nvSpPr>
          <p:cNvPr id="36" name="Text 33"/>
          <p:cNvSpPr/>
          <p:nvPr/>
        </p:nvSpPr>
        <p:spPr>
          <a:xfrm>
            <a:off x="3657600" y="330098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Fiscalía General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5760720" y="3328416"/>
            <a:ext cx="859626" cy="146304"/>
          </a:xfrm>
          <a:prstGeom prst="rect">
            <a:avLst/>
          </a:prstGeom>
          <a:solidFill>
            <a:srgbClr val="14BDAC"/>
          </a:solidFill>
          <a:ln/>
        </p:spPr>
      </p:sp>
      <p:sp>
        <p:nvSpPr>
          <p:cNvPr id="38" name="Text 35"/>
          <p:cNvSpPr/>
          <p:nvPr/>
        </p:nvSpPr>
        <p:spPr>
          <a:xfrm>
            <a:off x="6666066" y="330098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14.6K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3657600" y="355701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Aguas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5760720" y="3584448"/>
            <a:ext cx="724156" cy="146304"/>
          </a:xfrm>
          <a:prstGeom prst="rect">
            <a:avLst/>
          </a:prstGeom>
          <a:solidFill>
            <a:srgbClr val="14BDAC"/>
          </a:solidFill>
          <a:ln/>
        </p:spPr>
      </p:sp>
      <p:sp>
        <p:nvSpPr>
          <p:cNvPr id="41" name="Text 38"/>
          <p:cNvSpPr/>
          <p:nvPr/>
        </p:nvSpPr>
        <p:spPr>
          <a:xfrm>
            <a:off x="6530596" y="3557016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12.3K</a:t>
            </a:r>
            <a:endParaRPr lang="en-US" sz="850" dirty="0"/>
          </a:p>
        </p:txBody>
      </p:sp>
      <p:sp>
        <p:nvSpPr>
          <p:cNvPr id="42" name="Text 39"/>
          <p:cNvSpPr/>
          <p:nvPr/>
        </p:nvSpPr>
        <p:spPr>
          <a:xfrm>
            <a:off x="3657600" y="3813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Alcaldía Iztapalapa</a:t>
            </a:r>
            <a:endParaRPr lang="en-US" sz="900" dirty="0"/>
          </a:p>
        </p:txBody>
      </p:sp>
      <p:sp>
        <p:nvSpPr>
          <p:cNvPr id="43" name="Shape 40"/>
          <p:cNvSpPr/>
          <p:nvPr/>
        </p:nvSpPr>
        <p:spPr>
          <a:xfrm>
            <a:off x="5760720" y="3840480"/>
            <a:ext cx="709691" cy="146304"/>
          </a:xfrm>
          <a:prstGeom prst="rect">
            <a:avLst/>
          </a:prstGeom>
          <a:solidFill>
            <a:srgbClr val="14BDAC"/>
          </a:solidFill>
          <a:ln/>
        </p:spPr>
      </p:sp>
      <p:sp>
        <p:nvSpPr>
          <p:cNvPr id="44" name="Text 41"/>
          <p:cNvSpPr/>
          <p:nvPr/>
        </p:nvSpPr>
        <p:spPr>
          <a:xfrm>
            <a:off x="6516131" y="3813048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12.1K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3657600" y="406908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Alcaldía G.A. Madero</a:t>
            </a:r>
            <a:endParaRPr lang="en-US" sz="900" dirty="0"/>
          </a:p>
        </p:txBody>
      </p:sp>
      <p:sp>
        <p:nvSpPr>
          <p:cNvPr id="46" name="Shape 43"/>
          <p:cNvSpPr/>
          <p:nvPr/>
        </p:nvSpPr>
        <p:spPr>
          <a:xfrm>
            <a:off x="5760720" y="4096512"/>
            <a:ext cx="626845" cy="146304"/>
          </a:xfrm>
          <a:prstGeom prst="rect">
            <a:avLst/>
          </a:prstGeom>
          <a:solidFill>
            <a:srgbClr val="14BDAC"/>
          </a:solidFill>
          <a:ln/>
        </p:spPr>
      </p:sp>
      <p:sp>
        <p:nvSpPr>
          <p:cNvPr id="47" name="Text 44"/>
          <p:cNvSpPr/>
          <p:nvPr/>
        </p:nvSpPr>
        <p:spPr>
          <a:xfrm>
            <a:off x="6433285" y="4069080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10.7K</a:t>
            </a:r>
            <a:endParaRPr lang="en-US" sz="850" dirty="0"/>
          </a:p>
        </p:txBody>
      </p:sp>
      <p:sp>
        <p:nvSpPr>
          <p:cNvPr id="48" name="Text 45"/>
          <p:cNvSpPr/>
          <p:nvPr/>
        </p:nvSpPr>
        <p:spPr>
          <a:xfrm>
            <a:off x="3657600" y="432511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Alcaldía Cuauhtémoc</a:t>
            </a:r>
            <a:endParaRPr lang="en-US" sz="900" dirty="0"/>
          </a:p>
        </p:txBody>
      </p:sp>
      <p:sp>
        <p:nvSpPr>
          <p:cNvPr id="49" name="Shape 46"/>
          <p:cNvSpPr/>
          <p:nvPr/>
        </p:nvSpPr>
        <p:spPr>
          <a:xfrm>
            <a:off x="5760720" y="4352544"/>
            <a:ext cx="529711" cy="146304"/>
          </a:xfrm>
          <a:prstGeom prst="rect">
            <a:avLst/>
          </a:prstGeom>
          <a:solidFill>
            <a:srgbClr val="14BDAC"/>
          </a:solidFill>
          <a:ln/>
        </p:spPr>
      </p:sp>
      <p:sp>
        <p:nvSpPr>
          <p:cNvPr id="50" name="Text 47"/>
          <p:cNvSpPr/>
          <p:nvPr/>
        </p:nvSpPr>
        <p:spPr>
          <a:xfrm>
            <a:off x="6336151" y="4325112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9.0K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5448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914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Marco Normativo: IAS 19 / NIF D-3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365760" y="914400"/>
            <a:ext cx="411480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365760" y="914400"/>
            <a:ext cx="4114800" cy="347472"/>
          </a:xfrm>
          <a:prstGeom prst="rect">
            <a:avLst/>
          </a:prstGeom>
          <a:solidFill>
            <a:srgbClr val="1A2744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969264"/>
            <a:ext cx="219456" cy="21945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77240" y="93268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IAS 19 — Estándar Internacional (IASB)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594360" y="1371600"/>
            <a:ext cx="3657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Corto plazo: </a:t>
            </a:r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Sueldos, salarios, seguridad social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Post-empleo: </a:t>
            </a:r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Pensiones, jubilaciones, seguros de vida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Largo plazo: </a:t>
            </a:r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Licencias sabáticas, primas de antigüedad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Terminación: </a:t>
            </a:r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Indemnizaciones, liquidaciones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4663440" y="914400"/>
            <a:ext cx="411480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663440" y="914400"/>
            <a:ext cx="4114800" cy="347472"/>
          </a:xfrm>
          <a:prstGeom prst="rect">
            <a:avLst/>
          </a:prstGeom>
          <a:solidFill>
            <a:srgbClr val="065A60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969264"/>
            <a:ext cx="219456" cy="21945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074920" y="93268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NIF D-3 — Marco Mexicano (CINIF)</a:t>
            </a:r>
            <a:endParaRPr lang="en-US" sz="1100" dirty="0"/>
          </a:p>
        </p:txBody>
      </p:sp>
      <p:sp>
        <p:nvSpPr>
          <p:cNvPr id="14" name="Text 9"/>
          <p:cNvSpPr/>
          <p:nvPr/>
        </p:nvSpPr>
        <p:spPr>
          <a:xfrm>
            <a:off x="4892040" y="1371600"/>
            <a:ext cx="3657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Corto plazo: </a:t>
            </a:r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Sueldos, PTU, vacaciones, prima vacacional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Largo plazo: </a:t>
            </a:r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Becas, año sabático, beneficios diferidos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Post-empleo: </a:t>
            </a:r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 de antigüedad, pensión, jubilación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Terminación: </a:t>
            </a:r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Indemnización legal, liquidación (LFT)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365760" y="3017520"/>
            <a:ext cx="8412480" cy="1828800"/>
          </a:xfrm>
          <a:prstGeom prst="rect">
            <a:avLst/>
          </a:prstGeom>
          <a:solidFill>
            <a:srgbClr val="F0F7F4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365760" y="3017520"/>
            <a:ext cx="8412480" cy="45720"/>
          </a:xfrm>
          <a:prstGeom prst="rect">
            <a:avLst/>
          </a:prstGeom>
          <a:solidFill>
            <a:srgbClr val="14BDAC"/>
          </a:solidFill>
          <a:ln/>
        </p:spPr>
      </p:sp>
      <p:sp>
        <p:nvSpPr>
          <p:cNvPr id="17" name="Text 12"/>
          <p:cNvSpPr/>
          <p:nvPr/>
        </p:nvSpPr>
        <p:spPr>
          <a:xfrm>
            <a:off x="640080" y="312724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Consultas SQL sobre el Esquema Normalizado</a:t>
            </a:r>
            <a:endParaRPr lang="en-US" sz="120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3474720"/>
            <a:ext cx="164592" cy="16459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22960" y="345643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Antigüedad laboral promedio por sector y tipo de contratación</a:t>
            </a:r>
            <a:endParaRPr lang="en-US" sz="100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0" y="3474720"/>
            <a:ext cx="164592" cy="164592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4983480" y="345643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Brecha salarial por sexo, controlando puesto y antigüedad</a:t>
            </a:r>
            <a:endParaRPr lang="en-US" sz="100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" y="3904488"/>
            <a:ext cx="164592" cy="164592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822960" y="38862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 de antigüedad (12 días/año × sueldo, Art. 162 LFT)</a:t>
            </a:r>
            <a:endParaRPr lang="en-US" sz="1000" dirty="0"/>
          </a:p>
        </p:txBody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4880" y="3904488"/>
            <a:ext cx="164592" cy="164592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4983480" y="38862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Obligaciones por tipo de nómina: base, honorarios, eventuales</a:t>
            </a:r>
            <a:endParaRPr lang="en-US" sz="1000" dirty="0"/>
          </a:p>
        </p:txBody>
      </p:sp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4360" y="4334256"/>
            <a:ext cx="164592" cy="164592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822960" y="431596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Concentración del pasivo por sector (funciones de ventana)</a:t>
            </a:r>
            <a:endParaRPr lang="en-US" sz="1000" dirty="0"/>
          </a:p>
        </p:txBody>
      </p:sp>
      <p:pic>
        <p:nvPicPr>
          <p:cNvPr id="2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54880" y="4334256"/>
            <a:ext cx="164592" cy="164592"/>
          </a:xfrm>
          <a:prstGeom prst="rect">
            <a:avLst/>
          </a:prstGeom>
        </p:spPr>
      </p:pic>
      <p:sp>
        <p:nvSpPr>
          <p:cNvPr id="29" name="Text 18"/>
          <p:cNvSpPr/>
          <p:nvPr/>
        </p:nvSpPr>
        <p:spPr>
          <a:xfrm>
            <a:off x="4983480" y="431596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Simulación de costos de terminación por dependencia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5448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914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Más allá del Gobierno: Expansión del Análisis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365760" y="914400"/>
            <a:ext cx="8412480" cy="822960"/>
          </a:xfrm>
          <a:prstGeom prst="rect">
            <a:avLst/>
          </a:prstGeom>
          <a:solidFill>
            <a:srgbClr val="FFF8E1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365760" y="914400"/>
            <a:ext cx="64008" cy="822960"/>
          </a:xfrm>
          <a:prstGeom prst="rect">
            <a:avLst/>
          </a:prstGeom>
          <a:solidFill>
            <a:srgbClr val="D4A843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005840"/>
            <a:ext cx="228600" cy="2286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14400" y="9784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Privado — En Proceso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640080" y="12801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Búsqueda, extracción y aprobación de datos de nóminas de empresas privadas en México para una visión completa de obligaciones laborales a nivel nacional.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365760" y="1965960"/>
            <a:ext cx="4846320" cy="2468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365760" y="1965960"/>
            <a:ext cx="4846320" cy="365760"/>
          </a:xfrm>
          <a:prstGeom prst="rect">
            <a:avLst/>
          </a:prstGeom>
          <a:solidFill>
            <a:srgbClr val="065A60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029968"/>
            <a:ext cx="228600" cy="2286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04672" y="20116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Entidad Adicional: Nuestro Salón de Clase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594360" y="2423160"/>
            <a:ext cx="4389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Modelamos el salón como empresa para demostrar el ejercicio en vivo: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06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Patrón: 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profesor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06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Empleados: 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alumnos del curso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06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Antigüedad: 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clase = 1 año → 17 sem. × 2 = 34 años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06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Sueldo: 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Determinado por Kahoot final + calificaciones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440680" y="1965960"/>
            <a:ext cx="3337560" cy="246888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6" name="Text 11"/>
          <p:cNvSpPr/>
          <p:nvPr/>
        </p:nvSpPr>
        <p:spPr>
          <a:xfrm>
            <a:off x="5577840" y="2057400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Alumna — 34 años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5440680" y="233172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$165,000</a:t>
            </a:r>
            <a:endParaRPr lang="en-US" sz="2600" dirty="0"/>
          </a:p>
        </p:txBody>
      </p:sp>
      <p:sp>
        <p:nvSpPr>
          <p:cNvPr id="18" name="Text 13"/>
          <p:cNvSpPr/>
          <p:nvPr/>
        </p:nvSpPr>
        <p:spPr>
          <a:xfrm>
            <a:off x="5440680" y="2651760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BD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sueldo mensual</a:t>
            </a:r>
            <a:endParaRPr lang="en-US" sz="950" dirty="0"/>
          </a:p>
        </p:txBody>
      </p:sp>
      <p:sp>
        <p:nvSpPr>
          <p:cNvPr id="19" name="Text 14"/>
          <p:cNvSpPr/>
          <p:nvPr/>
        </p:nvSpPr>
        <p:spPr>
          <a:xfrm>
            <a:off x="5669280" y="292608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 de antigüedad:  </a:t>
            </a:r>
            <a:pPr indent="0" marL="0">
              <a:lnSpc>
                <a:spcPct val="13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$254,927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Aguinaldo:  </a:t>
            </a:r>
            <a:pPr indent="0" marL="0">
              <a:lnSpc>
                <a:spcPct val="13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$82,500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 vacacional:  </a:t>
            </a:r>
            <a:pPr indent="0" marL="0">
              <a:lnSpc>
                <a:spcPct val="13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$41,250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5577840" y="3794760"/>
            <a:ext cx="3063240" cy="32004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1" name="Text 16"/>
          <p:cNvSpPr/>
          <p:nvPr/>
        </p:nvSpPr>
        <p:spPr>
          <a:xfrm>
            <a:off x="5577840" y="379476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OBLIGACIONES ≈ $378,677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365760" y="45720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final del semestre, se invitará al patrón (profesor) a cubrir con sus debidas obligaciones laborales.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1D2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5448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914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Ética, GitHub y Próximos Pasos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365760" y="914400"/>
            <a:ext cx="3840480" cy="2103120"/>
          </a:xfrm>
          <a:prstGeom prst="rect">
            <a:avLst/>
          </a:prstGeom>
          <a:solidFill>
            <a:srgbClr val="FFF5F5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365760" y="914400"/>
            <a:ext cx="64008" cy="21031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98755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Consideraciones Éticas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0080" y="1298448"/>
            <a:ext cx="3337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personales: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Nombres, sexo y edad son públicos (Art. 70 LGTAIP), manejados con responsabilidad.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Sesgos: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 temporal único. Honorarios no generan mismas obligaciones laborales.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Alcance: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Estimaciones académicas. No sustituye valuación actuarial (IAS 19.67).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Enfoque: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Patrones sistémicos, no individuos.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434840" y="914400"/>
            <a:ext cx="4343400" cy="914400"/>
          </a:xfrm>
          <a:prstGeom prst="rect">
            <a:avLst/>
          </a:prstGeom>
          <a:solidFill>
            <a:srgbClr val="0B1D26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105156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120640" y="1005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 GitHub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5120640" y="1371600"/>
            <a:ext cx="3474720" cy="320040"/>
          </a:xfrm>
          <a:prstGeom prst="roundRect">
            <a:avLst>
              <a:gd name="adj" fmla="val 17143"/>
            </a:avLst>
          </a:prstGeom>
          <a:solidFill>
            <a:srgbClr val="0D7377"/>
          </a:solidFill>
          <a:ln/>
        </p:spPr>
      </p:sp>
      <p:sp>
        <p:nvSpPr>
          <p:cNvPr id="13" name="Text 9"/>
          <p:cNvSpPr/>
          <p:nvPr/>
        </p:nvSpPr>
        <p:spPr>
          <a:xfrm>
            <a:off x="5120640" y="13716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ITAM-COM-12101-001-Equipo1/Proyecto-Final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4434840" y="2011680"/>
            <a:ext cx="4343400" cy="2743200"/>
          </a:xfrm>
          <a:prstGeom prst="rect">
            <a:avLst/>
          </a:prstGeom>
          <a:solidFill>
            <a:srgbClr val="F0F7F4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434840" y="2011680"/>
            <a:ext cx="4343400" cy="45720"/>
          </a:xfrm>
          <a:prstGeom prst="rect">
            <a:avLst/>
          </a:prstGeom>
          <a:solidFill>
            <a:srgbClr val="14BDAC"/>
          </a:solidFill>
          <a:ln/>
        </p:spPr>
      </p:sp>
      <p:sp>
        <p:nvSpPr>
          <p:cNvPr id="16" name="Text 12"/>
          <p:cNvSpPr/>
          <p:nvPr/>
        </p:nvSpPr>
        <p:spPr>
          <a:xfrm>
            <a:off x="4663440" y="212140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del Proyecto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4956048" y="2807208"/>
            <a:ext cx="0" cy="182880"/>
          </a:xfrm>
          <a:prstGeom prst="line">
            <a:avLst/>
          </a:prstGeom>
          <a:noFill/>
          <a:ln w="19050">
            <a:solidFill>
              <a:srgbClr val="14BDAC"/>
            </a:solidFill>
            <a:prstDash val="dash"/>
          </a:ln>
        </p:spPr>
      </p:sp>
      <p:sp>
        <p:nvSpPr>
          <p:cNvPr id="18" name="Shape 14"/>
          <p:cNvSpPr/>
          <p:nvPr/>
        </p:nvSpPr>
        <p:spPr>
          <a:xfrm>
            <a:off x="4754880" y="2505456"/>
            <a:ext cx="320040" cy="320040"/>
          </a:xfrm>
          <a:prstGeom prst="ellipse">
            <a:avLst/>
          </a:prstGeom>
          <a:solidFill>
            <a:srgbClr val="0D7377"/>
          </a:solidFill>
          <a:ln w="19050">
            <a:solidFill>
              <a:srgbClr val="0D7377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754880" y="250545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5212080" y="248716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Limpieza y Carga Preliminar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4956048" y="3310128"/>
            <a:ext cx="0" cy="182880"/>
          </a:xfrm>
          <a:prstGeom prst="line">
            <a:avLst/>
          </a:prstGeom>
          <a:noFill/>
          <a:ln w="19050">
            <a:solidFill>
              <a:srgbClr val="14BDAC"/>
            </a:solidFill>
            <a:prstDash val="dash"/>
          </a:ln>
        </p:spPr>
      </p:sp>
      <p:sp>
        <p:nvSpPr>
          <p:cNvPr id="22" name="Shape 18"/>
          <p:cNvSpPr/>
          <p:nvPr/>
        </p:nvSpPr>
        <p:spPr>
          <a:xfrm>
            <a:off x="4754880" y="3008376"/>
            <a:ext cx="320040" cy="320040"/>
          </a:xfrm>
          <a:prstGeom prst="ellipse">
            <a:avLst/>
          </a:prstGeom>
          <a:solidFill>
            <a:srgbClr val="F0F7F4"/>
          </a:solidFill>
          <a:ln w="19050">
            <a:solidFill>
              <a:srgbClr val="14BDAC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4754880" y="300837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E3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5212080" y="299008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Normalización hasta 4NF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4956048" y="3813048"/>
            <a:ext cx="0" cy="182880"/>
          </a:xfrm>
          <a:prstGeom prst="line">
            <a:avLst/>
          </a:prstGeom>
          <a:noFill/>
          <a:ln w="19050">
            <a:solidFill>
              <a:srgbClr val="14BDAC"/>
            </a:solidFill>
            <a:prstDash val="dash"/>
          </a:ln>
        </p:spPr>
      </p:sp>
      <p:sp>
        <p:nvSpPr>
          <p:cNvPr id="26" name="Shape 22"/>
          <p:cNvSpPr/>
          <p:nvPr/>
        </p:nvSpPr>
        <p:spPr>
          <a:xfrm>
            <a:off x="4754880" y="3511296"/>
            <a:ext cx="320040" cy="320040"/>
          </a:xfrm>
          <a:prstGeom prst="ellipse">
            <a:avLst/>
          </a:prstGeom>
          <a:solidFill>
            <a:srgbClr val="F0F7F4"/>
          </a:solidFill>
          <a:ln w="19050">
            <a:solidFill>
              <a:srgbClr val="14BDAC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4754880" y="351129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E4</a:t>
            </a:r>
            <a:endParaRPr lang="en-US" sz="1000" dirty="0"/>
          </a:p>
        </p:txBody>
      </p:sp>
      <p:sp>
        <p:nvSpPr>
          <p:cNvPr id="28" name="Text 24"/>
          <p:cNvSpPr/>
          <p:nvPr/>
        </p:nvSpPr>
        <p:spPr>
          <a:xfrm>
            <a:off x="5212080" y="349300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IAS 19 / NIF D-3</a:t>
            </a:r>
            <a:endParaRPr lang="en-US" sz="1200" dirty="0"/>
          </a:p>
        </p:txBody>
      </p:sp>
      <p:sp>
        <p:nvSpPr>
          <p:cNvPr id="29" name="Shape 25"/>
          <p:cNvSpPr/>
          <p:nvPr/>
        </p:nvSpPr>
        <p:spPr>
          <a:xfrm>
            <a:off x="4754880" y="4014216"/>
            <a:ext cx="320040" cy="320040"/>
          </a:xfrm>
          <a:prstGeom prst="ellipse">
            <a:avLst/>
          </a:prstGeom>
          <a:solidFill>
            <a:srgbClr val="F0F7F4"/>
          </a:solidFill>
          <a:ln w="19050">
            <a:solidFill>
              <a:srgbClr val="14BDAC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4754880" y="401421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E5</a:t>
            </a:r>
            <a:endParaRPr lang="en-US" sz="1000" dirty="0"/>
          </a:p>
        </p:txBody>
      </p:sp>
      <p:sp>
        <p:nvSpPr>
          <p:cNvPr id="31" name="Text 27"/>
          <p:cNvSpPr/>
          <p:nvPr/>
        </p:nvSpPr>
        <p:spPr>
          <a:xfrm>
            <a:off x="5212080" y="399592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REST con FastAPI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D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4BDA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1887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¿Preguntas?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457200" y="21945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4BD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Remuneraciones al Personal de la Ciudad de México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606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Obligaciones Laborales  ·  IAS 19 / NIF D-3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3017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246,821 registros  ·  17 atributos  ·  73 sectores  ·  1,772 puestos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4846320"/>
            <a:ext cx="82296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ITAM · COM-12101-001 · Equipo 1 · Primavera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Remuneraciones CDMX - Entrega 1</dc:title>
  <dc:subject>PptxGenJS Presentation</dc:subject>
  <dc:creator>Equipo 1 — ITAM</dc:creator>
  <cp:lastModifiedBy>Equipo 1 — ITAM</cp:lastModifiedBy>
  <cp:revision>1</cp:revision>
  <dcterms:created xsi:type="dcterms:W3CDTF">2026-02-23T17:38:26Z</dcterms:created>
  <dcterms:modified xsi:type="dcterms:W3CDTF">2026-02-23T17:38:26Z</dcterms:modified>
</cp:coreProperties>
</file>